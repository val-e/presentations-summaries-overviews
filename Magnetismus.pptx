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Average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Lat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Average-regular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f87997393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f87997393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f87997393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f87997393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b23a73e4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b23a73e4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b23a73e4e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b23a73e4e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b23a73e75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b23a73e75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b31fccb59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b31fccb59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b2286eb9b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b2286eb9b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b23e05d4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b23e05d4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b31fccb59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b31fccb59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b2286eb9b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b2286eb9b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b23a73e4e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b23a73e4e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b31fccb7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b31fccb7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b326dad2c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b326dad2c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b326dad2c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b326dad2c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">
  <p:cSld name="SECTION_HEADER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32" name="Google Shape;132;p1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" name="Google Shape;1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51" name="Google Shape;151;p1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3">
  <p:cSld name="TITLE_AND_BODY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343059.jpg" id="153" name="Google Shape;153;p14"/>
          <p:cNvPicPr preferRelativeResize="0"/>
          <p:nvPr/>
        </p:nvPicPr>
        <p:blipFill rotWithShape="1">
          <a:blip r:embed="rId2">
            <a:alphaModFix amt="80000"/>
          </a:blip>
          <a:srcRect b="25870" l="30474" r="30474" t="11955"/>
          <a:stretch/>
        </p:blipFill>
        <p:spPr>
          <a:xfrm rot="-5400000">
            <a:off x="113630" y="-105700"/>
            <a:ext cx="5142300" cy="5364300"/>
          </a:xfrm>
          <a:prstGeom prst="diagStripe">
            <a:avLst>
              <a:gd fmla="val 50343" name="adj"/>
            </a:avLst>
          </a:prstGeom>
          <a:noFill/>
          <a:ln>
            <a:noFill/>
          </a:ln>
        </p:spPr>
      </p:pic>
      <p:sp>
        <p:nvSpPr>
          <p:cNvPr id="154" name="Google Shape;154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5" name="Google Shape;155;p14"/>
          <p:cNvSpPr txBox="1"/>
          <p:nvPr>
            <p:ph idx="1" type="body"/>
          </p:nvPr>
        </p:nvSpPr>
        <p:spPr>
          <a:xfrm>
            <a:off x="4018025" y="1567550"/>
            <a:ext cx="4318500" cy="17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6" name="Google Shape;15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57" name="Google Shape;157;p14">
            <a:hlinkClick action="ppaction://hlinksldjump" r:id="rId3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4">
            <a:hlinkClick action="ppaction://hlinksldjump" r:id="rId4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">
            <a:hlinkClick action="ppaction://hlinksldjump" r:id="rId5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">
            <a:hlinkClick action="ppaction://hlinksldjump" r:id="rId6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1" name="Google Shape;161;p1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62" name="Google Shape;162;p1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1">
  <p:cSld name="TITLE_AND_BODY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"/>
          <p:cNvSpPr txBox="1"/>
          <p:nvPr>
            <p:ph type="title"/>
          </p:nvPr>
        </p:nvSpPr>
        <p:spPr>
          <a:xfrm>
            <a:off x="361071" y="1924852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6" name="Google Shape;166;p15"/>
          <p:cNvSpPr/>
          <p:nvPr/>
        </p:nvSpPr>
        <p:spPr>
          <a:xfrm>
            <a:off x="4564200" y="0"/>
            <a:ext cx="4579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5"/>
          <p:cNvSpPr txBox="1"/>
          <p:nvPr>
            <p:ph idx="1" type="body"/>
          </p:nvPr>
        </p:nvSpPr>
        <p:spPr>
          <a:xfrm>
            <a:off x="6451271" y="1924850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5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5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5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" name="Google Shape;172;p1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73" name="Google Shape;173;p1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5" name="Google Shape;175;p15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6" name="Google Shape;17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2">
  <p:cSld name="TITLE_AND_BODY_2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 txBox="1"/>
          <p:nvPr>
            <p:ph type="title"/>
          </p:nvPr>
        </p:nvSpPr>
        <p:spPr>
          <a:xfrm>
            <a:off x="702850" y="1708619"/>
            <a:ext cx="3333300" cy="14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16"/>
          <p:cNvSpPr/>
          <p:nvPr/>
        </p:nvSpPr>
        <p:spPr>
          <a:xfrm>
            <a:off x="0" y="3486600"/>
            <a:ext cx="9144000" cy="165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6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6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6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4" name="Google Shape;184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85" name="Google Shape;185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" name="Google Shape;187;p16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8" name="Google Shape;1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89" name="Google Shape;189;p16"/>
          <p:cNvSpPr txBox="1"/>
          <p:nvPr>
            <p:ph idx="1" type="body"/>
          </p:nvPr>
        </p:nvSpPr>
        <p:spPr>
          <a:xfrm>
            <a:off x="702850" y="3625275"/>
            <a:ext cx="3333300" cy="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spektrum.de/lexikon/physik/paramagnetismus/10910" TargetMode="External"/><Relationship Id="rId4" Type="http://schemas.openxmlformats.org/officeDocument/2006/relationships/hyperlink" Target="https://www.spektrum.de/lexikon/physik/diamagnetismus/2987" TargetMode="External"/><Relationship Id="rId5" Type="http://schemas.openxmlformats.org/officeDocument/2006/relationships/hyperlink" Target="https://upload.wikimedia.org/wikipedia/commons/6/6b/Diamagnetic_material_interaction_in_magnetic_field.png" TargetMode="External"/><Relationship Id="rId6" Type="http://schemas.openxmlformats.org/officeDocument/2006/relationships/hyperlink" Target="https://www.gold-analytix.de/media/pdf/ff/b1/d0/anleitung-magneticscreenscale-de.pdf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e.wikipedia.org/wiki/Paramagnetismus#Anwendung" TargetMode="External"/><Relationship Id="rId4" Type="http://schemas.openxmlformats.org/officeDocument/2006/relationships/hyperlink" Target="https://de.wikipedia.org/wiki/Mei%C3%9Fner-Ochsenfeld-Effekt#Anwendungen" TargetMode="External"/><Relationship Id="rId5" Type="http://schemas.openxmlformats.org/officeDocument/2006/relationships/hyperlink" Target="https://de.wikipedia.org/wiki/Mei%C3%9Fner-Ochsenfeld-Effekt" TargetMode="External"/><Relationship Id="rId6" Type="http://schemas.openxmlformats.org/officeDocument/2006/relationships/hyperlink" Target="https://de.wikipedia.org/wiki/Mei%C3%9Fner-Ochsenfeld-Effekt#/media/Datei:EfektMeisnera.svg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studylibde.com/doc/16439530/magnetismus-auf-atomarer-ebene" TargetMode="External"/><Relationship Id="rId4" Type="http://schemas.openxmlformats.org/officeDocument/2006/relationships/hyperlink" Target="https://www.supermagnete.de/magnetismus/elektronenspin" TargetMode="External"/><Relationship Id="rId5" Type="http://schemas.openxmlformats.org/officeDocument/2006/relationships/hyperlink" Target="https://www.supermagnete.de/magnetismus/magnetisches_moment" TargetMode="External"/><Relationship Id="rId6" Type="http://schemas.openxmlformats.org/officeDocument/2006/relationships/hyperlink" Target="https://de.wikipedia.org/wiki/Datei:VFPt_dipoles_magnetic.svg" TargetMode="External"/><Relationship Id="rId7" Type="http://schemas.openxmlformats.org/officeDocument/2006/relationships/hyperlink" Target="https://de.wikipedia.org/wiki/Datei:Stromschleife.svg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physik.cosmos-indirekt.de/Physik-Schule/Dauermagnet" TargetMode="External"/><Relationship Id="rId4" Type="http://schemas.openxmlformats.org/officeDocument/2006/relationships/hyperlink" Target="https://physik.cosmos-indirekt.de/Physik-Schule/John_Canton" TargetMode="External"/><Relationship Id="rId5" Type="http://schemas.openxmlformats.org/officeDocument/2006/relationships/hyperlink" Target="https://maybephysics.wordpress.com/2017/04/07/magnetismus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physik.cosmos-indirekt.de/Physik-Schule/Elektromagnet" TargetMode="External"/><Relationship Id="rId4" Type="http://schemas.openxmlformats.org/officeDocument/2006/relationships/hyperlink" Target="https://en.wikipedia.org/wiki/William_Sturgeon" TargetMode="External"/><Relationship Id="rId5" Type="http://schemas.openxmlformats.org/officeDocument/2006/relationships/hyperlink" Target="https://www.goruma.de/erde-und-natur/geologie/magnetfeld-der-erde" TargetMode="External"/><Relationship Id="rId6" Type="http://schemas.openxmlformats.org/officeDocument/2006/relationships/hyperlink" Target="https://physik.cosmos-indirekt.de/Physik-Schule/Korkenzieherrege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 txBox="1"/>
          <p:nvPr>
            <p:ph type="ctrTitle"/>
          </p:nvPr>
        </p:nvSpPr>
        <p:spPr>
          <a:xfrm>
            <a:off x="3537150" y="1578400"/>
            <a:ext cx="49686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Magnetismus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 txBox="1"/>
          <p:nvPr/>
        </p:nvSpPr>
        <p:spPr>
          <a:xfrm>
            <a:off x="1297500" y="1132625"/>
            <a:ext cx="7038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Inhaltsverzeichnis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1294300" y="2064600"/>
            <a:ext cx="6662700" cy="27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verage"/>
              <a:buAutoNum type="arabicPeriod"/>
            </a:pPr>
            <a:r>
              <a:rPr lang="de" sz="18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Magnetismus auf Teilchenebene</a:t>
            </a:r>
            <a:endParaRPr sz="1800"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verage"/>
              <a:buAutoNum type="arabicPeriod"/>
            </a:pPr>
            <a:r>
              <a:rPr lang="de" sz="18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Ferromagnetismus</a:t>
            </a:r>
            <a:endParaRPr sz="1800"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verage"/>
              <a:buAutoNum type="arabicPeriod"/>
            </a:pPr>
            <a:r>
              <a:rPr lang="de" sz="18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Paramagnetismus &amp; Diamagnetismus</a:t>
            </a:r>
            <a:endParaRPr sz="1800"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verage"/>
              <a:buAutoNum type="arabicPeriod"/>
            </a:pPr>
            <a:r>
              <a:rPr lang="de" sz="18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Dauermagnet</a:t>
            </a:r>
            <a:endParaRPr sz="1800"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verage"/>
              <a:buAutoNum type="arabicPeriod"/>
            </a:pPr>
            <a:r>
              <a:rPr lang="de" sz="18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Elektromagnet</a:t>
            </a:r>
            <a:endParaRPr sz="1800"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verage"/>
              <a:buAutoNum type="arabicPeriod"/>
            </a:pPr>
            <a:r>
              <a:rPr lang="de" sz="1800">
                <a:solidFill>
                  <a:srgbClr val="FFFFFF"/>
                </a:solidFill>
                <a:latin typeface="Average"/>
                <a:ea typeface="Average"/>
                <a:cs typeface="Average"/>
                <a:sym typeface="Average"/>
              </a:rPr>
              <a:t>Verwendung von Para- &amp; Diamagnetismus</a:t>
            </a:r>
            <a:endParaRPr sz="1800"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 txBox="1"/>
          <p:nvPr>
            <p:ph type="title"/>
          </p:nvPr>
        </p:nvSpPr>
        <p:spPr>
          <a:xfrm>
            <a:off x="1297500" y="393750"/>
            <a:ext cx="53856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Magnetismus auf Teilchenebene</a:t>
            </a:r>
            <a:endParaRPr/>
          </a:p>
        </p:txBody>
      </p:sp>
      <p:sp>
        <p:nvSpPr>
          <p:cNvPr id="206" name="Google Shape;206;p19"/>
          <p:cNvSpPr txBox="1"/>
          <p:nvPr>
            <p:ph idx="1" type="body"/>
          </p:nvPr>
        </p:nvSpPr>
        <p:spPr>
          <a:xfrm>
            <a:off x="898950" y="1560650"/>
            <a:ext cx="78360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de"/>
              <a:t>Elektronen haben einen Spin (+½ oder -½ ) 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de"/>
              <a:t>Elektronen und Atome besitzen einen </a:t>
            </a:r>
            <a:r>
              <a:rPr b="1" lang="de" u="sng"/>
              <a:t>Spin</a:t>
            </a:r>
            <a:r>
              <a:rPr lang="de"/>
              <a:t> (Rotation um das eigene Zentrum)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/>
              <a:t>-&gt; jedes Teilchen hat ein </a:t>
            </a:r>
            <a:r>
              <a:rPr b="1" lang="de" u="sng"/>
              <a:t>magnetisches Spinmoment</a:t>
            </a:r>
            <a:r>
              <a:rPr lang="de"/>
              <a:t>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/>
              <a:t>-&gt;</a:t>
            </a:r>
            <a:r>
              <a:rPr b="1" lang="de"/>
              <a:t> Bahnmomente</a:t>
            </a:r>
            <a:r>
              <a:rPr lang="de"/>
              <a:t> von Elektronen in der Atomhülle</a:t>
            </a:r>
            <a:endParaRPr/>
          </a:p>
          <a:p>
            <a:pPr indent="45720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/>
              <a:t>-&gt; r</a:t>
            </a:r>
            <a:r>
              <a:rPr lang="de"/>
              <a:t>unden Leiterschleife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0425" y="1418600"/>
            <a:ext cx="1858075" cy="19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6750" y="2899850"/>
            <a:ext cx="1753374" cy="211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 </a:t>
            </a:r>
            <a:endParaRPr/>
          </a:p>
        </p:txBody>
      </p:sp>
      <p:sp>
        <p:nvSpPr>
          <p:cNvPr id="214" name="Google Shape;214;p20"/>
          <p:cNvSpPr txBox="1"/>
          <p:nvPr>
            <p:ph idx="1" type="body"/>
          </p:nvPr>
        </p:nvSpPr>
        <p:spPr>
          <a:xfrm>
            <a:off x="4828825" y="183350"/>
            <a:ext cx="4084200" cy="46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just">
              <a:spcBef>
                <a:spcPts val="1200"/>
              </a:spcBef>
              <a:spcAft>
                <a:spcPts val="0"/>
              </a:spcAft>
              <a:buSzPts val="1100"/>
              <a:buChar char="-"/>
            </a:pPr>
            <a:r>
              <a:rPr lang="de"/>
              <a:t>Materialien (Eisen, Kobalt, Nickel und bestimmten Legierungen)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de"/>
              <a:t>ungepaarte Elektronen</a:t>
            </a:r>
            <a:endParaRPr/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de"/>
              <a:t>gleichartige Magnetisierungsrichtung der Atome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-&gt; "magnetische Domänen" oder auch als "weißsche Bezirke"  </a:t>
            </a:r>
            <a:endParaRPr/>
          </a:p>
          <a:p>
            <a:pPr indent="45720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u="sng"/>
              <a:t>Herstellung von Dauermagneten/Elektromagneten</a:t>
            </a:r>
            <a:endParaRPr b="1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Wenn man ein externes Magnetfeld einschaltet:</a:t>
            </a:r>
            <a:endParaRPr/>
          </a:p>
          <a:p>
            <a:pPr indent="-298450" lvl="0" marL="457200" rtl="0"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d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werden die Domänen ausgerichtet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Wenn man das externe Magnetfeld abschaltet 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d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ist das Material </a:t>
            </a:r>
            <a:r>
              <a:rPr b="1" lang="d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magnetisch hart</a:t>
            </a:r>
            <a:r>
              <a:rPr lang="d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bleiben die Domänen ausgerichtet (z.B. Stahl) </a:t>
            </a:r>
            <a:br>
              <a:rPr lang="d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d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ist das Material </a:t>
            </a:r>
            <a:r>
              <a:rPr b="1" lang="d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magnetisch weich</a:t>
            </a:r>
            <a:r>
              <a:rPr lang="d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verlieren die Domänen ihre Ausrichtung und der Stoff seine Magnetische eigenschaft (z.B. heißes Eisen)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Wechselstrom Elektromagneten </a:t>
            </a:r>
            <a:endParaRPr/>
          </a:p>
        </p:txBody>
      </p:sp>
      <p:pic>
        <p:nvPicPr>
          <p:cNvPr id="215" name="Google Shape;2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075" y="2571750"/>
            <a:ext cx="296392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>
            <p:ph type="title"/>
          </p:nvPr>
        </p:nvSpPr>
        <p:spPr>
          <a:xfrm>
            <a:off x="229900" y="1760525"/>
            <a:ext cx="3850500" cy="6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900"/>
              <a:t>Ferromagnetismus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 </a:t>
            </a:r>
            <a:endParaRPr/>
          </a:p>
        </p:txBody>
      </p:sp>
      <p:sp>
        <p:nvSpPr>
          <p:cNvPr id="222" name="Google Shape;222;p21"/>
          <p:cNvSpPr txBox="1"/>
          <p:nvPr>
            <p:ph idx="1" type="body"/>
          </p:nvPr>
        </p:nvSpPr>
        <p:spPr>
          <a:xfrm>
            <a:off x="4960525" y="3713050"/>
            <a:ext cx="3966900" cy="13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bei Diamagneten:</a:t>
            </a:r>
            <a:endParaRPr/>
          </a:p>
          <a:p>
            <a:pPr indent="-298450" lvl="0" marL="457200" rtl="0" algn="l">
              <a:spcBef>
                <a:spcPts val="1600"/>
              </a:spcBef>
              <a:spcAft>
                <a:spcPts val="0"/>
              </a:spcAft>
              <a:buSzPts val="1100"/>
              <a:buChar char="-"/>
            </a:pPr>
            <a:r>
              <a:rPr lang="de"/>
              <a:t>Magnetisierung entgegengerichtet zum angelegten Magnetfeld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de"/>
              <a:t>gepaarte Elektronen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0527" y="1616213"/>
            <a:ext cx="3862790" cy="191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>
            <p:ph idx="1" type="body"/>
          </p:nvPr>
        </p:nvSpPr>
        <p:spPr>
          <a:xfrm>
            <a:off x="4960525" y="193800"/>
            <a:ext cx="3966900" cy="15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de"/>
              <a:t>Paramagnetische Materiale haben kein magnetisches Moment,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de"/>
              <a:t> im B-Feld findet jedoch eine Magnetisierung statt,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de"/>
              <a:t>Magnetisierung gleichgerichtet zum </a:t>
            </a:r>
            <a:r>
              <a:rPr lang="de"/>
              <a:t>angelegten</a:t>
            </a:r>
            <a:r>
              <a:rPr lang="de"/>
              <a:t> Magnetfeld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de"/>
              <a:t>Ursache: </a:t>
            </a:r>
            <a:r>
              <a:rPr lang="de"/>
              <a:t>unvollständig</a:t>
            </a:r>
            <a:r>
              <a:rPr lang="de"/>
              <a:t> </a:t>
            </a:r>
            <a:r>
              <a:rPr lang="de"/>
              <a:t>besetzte</a:t>
            </a:r>
            <a:r>
              <a:rPr lang="de"/>
              <a:t> Orbitale bzw. ungepaarte Elektrone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5" name="Google Shape;2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86" y="3527275"/>
            <a:ext cx="4431340" cy="141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>
            <p:ph type="title"/>
          </p:nvPr>
        </p:nvSpPr>
        <p:spPr>
          <a:xfrm>
            <a:off x="174650" y="1483000"/>
            <a:ext cx="4264800" cy="17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900"/>
              <a:t>Paramagnetismus &amp; Diamagnetismus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Eigenschaften</a:t>
            </a:r>
            <a:endParaRPr/>
          </a:p>
        </p:txBody>
      </p:sp>
      <p:pic>
        <p:nvPicPr>
          <p:cNvPr id="232" name="Google Shape;2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850" y="1018375"/>
            <a:ext cx="5762625" cy="34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Dauermagnet</a:t>
            </a:r>
            <a:endParaRPr/>
          </a:p>
        </p:txBody>
      </p:sp>
      <p:sp>
        <p:nvSpPr>
          <p:cNvPr id="238" name="Google Shape;238;p23"/>
          <p:cNvSpPr txBox="1"/>
          <p:nvPr>
            <p:ph idx="1" type="body"/>
          </p:nvPr>
        </p:nvSpPr>
        <p:spPr>
          <a:xfrm>
            <a:off x="1297500" y="1567550"/>
            <a:ext cx="4764300" cy="14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de"/>
              <a:t>1750 erster Dauermagnetmaterialien von John Canton hergestellt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de"/>
              <a:t>besteht aus magnetisch starkem Eisen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de"/>
              <a:t>kann mehrere Nord- und Südpole besitzen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de"/>
              <a:t>durch Überstreichen mit </a:t>
            </a:r>
            <a:r>
              <a:rPr lang="de"/>
              <a:t>anderen</a:t>
            </a:r>
            <a:r>
              <a:rPr lang="de"/>
              <a:t> Magneten magnetisiert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39" name="Google Shape;23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3273" y="752625"/>
            <a:ext cx="2492525" cy="3063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7500" y="3037850"/>
            <a:ext cx="4507375" cy="180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/>
          <p:nvPr>
            <p:ph type="title"/>
          </p:nvPr>
        </p:nvSpPr>
        <p:spPr>
          <a:xfrm>
            <a:off x="1297500" y="393750"/>
            <a:ext cx="4895700" cy="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Elektromagnet </a:t>
            </a:r>
            <a:endParaRPr/>
          </a:p>
        </p:txBody>
      </p:sp>
      <p:sp>
        <p:nvSpPr>
          <p:cNvPr id="246" name="Google Shape;246;p24"/>
          <p:cNvSpPr txBox="1"/>
          <p:nvPr>
            <p:ph idx="1" type="body"/>
          </p:nvPr>
        </p:nvSpPr>
        <p:spPr>
          <a:xfrm>
            <a:off x="1132175" y="1424775"/>
            <a:ext cx="4936500" cy="13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de"/>
              <a:t>erster Elektromagnet 1826 William Sturgeon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de"/>
              <a:t>Leiter mit Stromdurchfluss erzeugen ein Magnetfeld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de"/>
              <a:t>weichmagnetisches Eisen verstärkt diese Wirkung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de"/>
              <a:t>innerhalb von einer Spule Magnetfeld fast homogen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3275" y="544713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3275" y="2687850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2175" y="2571750"/>
            <a:ext cx="4367450" cy="209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Verwendung von Para- &amp; Diamagnetismus</a:t>
            </a:r>
            <a:endParaRPr/>
          </a:p>
        </p:txBody>
      </p:sp>
      <p:sp>
        <p:nvSpPr>
          <p:cNvPr id="255" name="Google Shape;255;p25"/>
          <p:cNvSpPr txBox="1"/>
          <p:nvPr>
            <p:ph idx="4294967295" type="body"/>
          </p:nvPr>
        </p:nvSpPr>
        <p:spPr>
          <a:xfrm>
            <a:off x="1332400" y="17078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500"/>
              <a:t>Paramagnetismus:</a:t>
            </a:r>
            <a:endParaRPr sz="1500"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rPr lang="de"/>
              <a:t>Der Paramagnetismus von Sauerstoff wird bei der physikalischen Gasanalyse genutzt.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 sz="1500"/>
              <a:t>Diamagnetismus</a:t>
            </a:r>
            <a:r>
              <a:rPr lang="de" sz="1500"/>
              <a:t>:</a:t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-"/>
            </a:pPr>
            <a:r>
              <a:rPr lang="de" sz="1500"/>
              <a:t>Supraleiter sind perfekte Diamagneten.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de" sz="1500"/>
              <a:t>Verdrängung der Magnetfeldlinien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de" sz="1500"/>
              <a:t>Kryotronen (Schalter)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Quellen</a:t>
            </a:r>
            <a:endParaRPr/>
          </a:p>
        </p:txBody>
      </p:sp>
      <p:sp>
        <p:nvSpPr>
          <p:cNvPr id="261" name="Google Shape;261;p26"/>
          <p:cNvSpPr txBox="1"/>
          <p:nvPr>
            <p:ph idx="1" type="body"/>
          </p:nvPr>
        </p:nvSpPr>
        <p:spPr>
          <a:xfrm>
            <a:off x="1297500" y="1201625"/>
            <a:ext cx="7690800" cy="33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Paramagnetismus: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hlink"/>
                </a:solidFill>
                <a:hlinkClick r:id="rId3"/>
              </a:rPr>
              <a:t>https://www.spektrum.de/lexikon/physik/paramagnetismus/10910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/>
              <a:t>Diamagnetismus: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hlink"/>
                </a:solidFill>
                <a:hlinkClick r:id="rId4"/>
              </a:rPr>
              <a:t>https://www.spektrum.de/lexikon/physik/diamagnetismus/2987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/>
              <a:t>Bilder: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https://upload.wikimedia.org/wikipedia/commons/6/6b/Diamagnetic_material_interaction_in_magnetic_field.png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hlink"/>
                </a:solidFill>
                <a:hlinkClick r:id="rId6"/>
              </a:rPr>
              <a:t>https://www.gold-analytix.de/media/pdf/ff/b1/d0/anleitung-magneticscreenscale-de.pdf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Quellen</a:t>
            </a:r>
            <a:endParaRPr/>
          </a:p>
        </p:txBody>
      </p:sp>
      <p:sp>
        <p:nvSpPr>
          <p:cNvPr id="267" name="Google Shape;267;p27"/>
          <p:cNvSpPr txBox="1"/>
          <p:nvPr>
            <p:ph idx="1" type="body"/>
          </p:nvPr>
        </p:nvSpPr>
        <p:spPr>
          <a:xfrm>
            <a:off x="1243825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Verwendung Paramagnetismus: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hlink"/>
                </a:solidFill>
                <a:hlinkClick r:id="rId3"/>
              </a:rPr>
              <a:t>https://de.wikipedia.org/wiki/Paramagnetismus#Anwendung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/>
              <a:t>Verwendung Diamagnetismus: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hlink"/>
                </a:solidFill>
                <a:hlinkClick r:id="rId4"/>
              </a:rPr>
              <a:t>https://de.wikipedia.org/wiki/Mei%C3%9Fner-Ochsenfeld-Effekt#Anwendungen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hlink"/>
                </a:solidFill>
                <a:hlinkClick r:id="rId5"/>
              </a:rPr>
              <a:t>https://de.wikipedia.org/wiki/Mei%C3%9Fner-Ochsenfeld-Effekt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/>
              <a:t>Bildquellen: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hlink"/>
                </a:solidFill>
                <a:hlinkClick r:id="rId6"/>
              </a:rPr>
              <a:t>https://de.wikipedia.org/wiki/Mei%C3%9Fner-Ochsenfeld-Effekt#/media/Datei:EfektMeisnera.svg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Quellen</a:t>
            </a:r>
            <a:endParaRPr/>
          </a:p>
        </p:txBody>
      </p:sp>
      <p:sp>
        <p:nvSpPr>
          <p:cNvPr id="273" name="Google Shape;273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Magnetismus Teilcheneben: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https://studylibde.com/doc/16439530/magnetismus-auf-atomarer-ebene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hlink"/>
                </a:solidFill>
                <a:hlinkClick r:id="rId4"/>
              </a:rPr>
              <a:t>https://www.supermagnete.de/magnetismus/elektronenspin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hlink"/>
                </a:solidFill>
                <a:hlinkClick r:id="rId5"/>
              </a:rPr>
              <a:t>https://www.supermagnete.de/magnetismus/magnetisches_moment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/>
              <a:t>Bilder 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https://de.wikipedia.org/wiki/Datei:VFPt_dipoles_magnetic.sv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https://de.wikipedia.org/wiki/Datei:Stromschleife.svg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Quellen</a:t>
            </a:r>
            <a:endParaRPr/>
          </a:p>
        </p:txBody>
      </p:sp>
      <p:sp>
        <p:nvSpPr>
          <p:cNvPr id="279" name="Google Shape;279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Dauermagnet: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hlink"/>
                </a:solidFill>
                <a:hlinkClick r:id="rId3"/>
              </a:rPr>
              <a:t>https://physik.cosmos-indirekt.de/Physik-Schule/Dauermagnet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/>
              <a:t>Bilder: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hlink"/>
                </a:solidFill>
                <a:hlinkClick r:id="rId4"/>
              </a:rPr>
              <a:t>https://physik.cosmos-indirekt.de/Physik-Schule/John_Canton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hlink"/>
                </a:solidFill>
                <a:hlinkClick r:id="rId5"/>
              </a:rPr>
              <a:t>https://maybephysics.wordpress.com/2017/04/07/magnetismus/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Quellen</a:t>
            </a:r>
            <a:endParaRPr/>
          </a:p>
        </p:txBody>
      </p:sp>
      <p:sp>
        <p:nvSpPr>
          <p:cNvPr id="285" name="Google Shape;285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Elektromagnet: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hlink"/>
                </a:solidFill>
                <a:hlinkClick r:id="rId3"/>
              </a:rPr>
              <a:t>https://physik.cosmos-indirekt.de/Physik-Schule/Elektromagnet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/>
              <a:t>Bilder: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hlink"/>
                </a:solidFill>
                <a:hlinkClick r:id="rId4"/>
              </a:rPr>
              <a:t>https://en.wikipedia.org/wiki/William_Sturgeon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hlink"/>
                </a:solidFill>
                <a:hlinkClick r:id="rId5"/>
              </a:rPr>
              <a:t>https://www.goruma.de/erde-und-natur/geologie/magnetfeld-der-erde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hlink"/>
                </a:solidFill>
                <a:hlinkClick r:id="rId6"/>
              </a:rPr>
              <a:t>https://physik.cosmos-indirekt.de/Physik-Schule/Korkenzieherregel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